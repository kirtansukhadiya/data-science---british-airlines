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Customer Booking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4F81BD"/>
                </a:solidFill>
              </a:defRPr>
            </a:pPr>
            <a:r>
              <a:t>Machine Learning Model Analysis &amp;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KEY FINDINGS &amp;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931920" cy="2103120"/>
          </a:xfrm>
          <a:prstGeom prst="rect">
            <a:avLst/>
          </a:prstGeom>
          <a:solidFill>
            <a:srgbClr val="F2F2F2"/>
          </a:solidFill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Model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566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00000"/>
                </a:solidFill>
              </a:defRPr>
            </a:pPr>
            <a:r>
              <a:t>59.90%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39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Test set classification accuracy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474720"/>
            <a:ext cx="3931920" cy="2103120"/>
          </a:xfrm>
          <a:prstGeom prst="rect">
            <a:avLst/>
          </a:prstGeom>
          <a:solidFill>
            <a:srgbClr val="F2F2F2"/>
          </a:solidFill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ROC-AUC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3566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00000"/>
                </a:solidFill>
              </a:defRPr>
            </a:pPr>
            <a:r>
              <a:t>0.5648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Model discrimination capability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097280"/>
            <a:ext cx="3931920" cy="2103120"/>
          </a:xfrm>
          <a:prstGeom prst="rect">
            <a:avLst/>
          </a:prstGeom>
          <a:solidFill>
            <a:srgbClr val="F2F2F2"/>
          </a:solidFill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28016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CV Mean AUC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783080"/>
            <a:ext cx="3566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00000"/>
                </a:solidFill>
              </a:defRPr>
            </a:pPr>
            <a:r>
              <a:t>0.5583 ± 0.0044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606039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5-fold cross-validation robustness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3474720"/>
            <a:ext cx="3931920" cy="2103120"/>
          </a:xfrm>
          <a:prstGeom prst="rect">
            <a:avLst/>
          </a:prstGeom>
          <a:solidFill>
            <a:srgbClr val="F2F2F2"/>
          </a:solidFill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365760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t>Booking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4160520"/>
            <a:ext cx="3566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00000"/>
                </a:solidFill>
              </a:defRPr>
            </a:pPr>
            <a:r>
              <a:t>33.42%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4983479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Actual completion rate in dataset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TOP 10 PREDICTIVE FEATURES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5029200"/>
                <a:gridCol w="25603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Feature Name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Importance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00000"/>
                          </a:solidFill>
                        </a:defRPr>
                      </a:pPr>
                      <a:r>
                        <a:t>flight_duration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00000"/>
                          </a:solidFill>
                        </a:defRPr>
                      </a:pPr>
                      <a:r>
                        <a:t>0.1450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length_of_stay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0.1441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days_until_flight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0.1319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purchase_lead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0.1283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flight_hour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0.0846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num_passengers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0.0662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flight_day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0.0534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route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0.0397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sales_channel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0.0318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booking_origin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0.0310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MODEL INSIGHTS &amp; INTERPRETATION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1143000"/>
          </a:xfrm>
          <a:prstGeom prst="rect">
            <a:avLst/>
          </a:prstGeom>
          <a:solidFill>
            <a:srgbClr val="F2F7FC"/>
          </a:solidFill>
          <a:ln w="127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4E79"/>
                </a:solidFill>
              </a:defRPr>
            </a:pPr>
            <a:r>
              <a:t>Most Important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7863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Flight Duration (14.5%)</a:t>
            </a:r>
            <a:br/>
            <a:r>
              <a:t>Longer flights show different booking behavior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31720"/>
            <a:ext cx="8229600" cy="1143000"/>
          </a:xfrm>
          <a:prstGeom prst="rect">
            <a:avLst/>
          </a:prstGeom>
          <a:solidFill>
            <a:srgbClr val="FCF7F2"/>
          </a:solidFill>
          <a:ln w="127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4E79"/>
                </a:solidFill>
              </a:defRPr>
            </a:pPr>
            <a:r>
              <a:t>Trip Characteristics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863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Length of Stay and Purchase Lead are critical</a:t>
            </a:r>
            <a:br/>
            <a:r>
              <a:t>Customers plan differently based on trip duration and advance booking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566160"/>
            <a:ext cx="8229600" cy="1143000"/>
          </a:xfrm>
          <a:prstGeom prst="rect">
            <a:avLst/>
          </a:prstGeom>
          <a:solidFill>
            <a:srgbClr val="F2F7FC"/>
          </a:solidFill>
          <a:ln w="127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4E79"/>
                </a:solidFill>
              </a:defRPr>
            </a:pPr>
            <a:r>
              <a:t>Add-on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7863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Preferred seats and in-flight meals are positive signals</a:t>
            </a:r>
            <a:br/>
            <a:r>
              <a:t>Customers selecting add-ons are more likely to complete bookings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00600"/>
            <a:ext cx="8229600" cy="1143000"/>
          </a:xfrm>
          <a:prstGeom prst="rect">
            <a:avLst/>
          </a:prstGeom>
          <a:solidFill>
            <a:srgbClr val="FCF7F2"/>
          </a:solidFill>
          <a:ln w="127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89204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4E79"/>
                </a:solidFill>
              </a:defRPr>
            </a:pPr>
            <a:r>
              <a:t>Business 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57800"/>
            <a:ext cx="7863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Target retention strategies around flight duration</a:t>
            </a:r>
            <a:br/>
            <a:r>
              <a:t>Optimize add-on offerings for higher completion rates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FEATURE IMPORTANCE VISUALIZATION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8595360" cy="57141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65760" cy="365760"/>
          </a:xfrm>
          <a:prstGeom prst="rect">
            <a:avLst/>
          </a:prstGeom>
          <a:solidFill>
            <a:srgbClr val="C000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09728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4E79"/>
                </a:solidFill>
              </a:defRPr>
            </a:pPr>
            <a:r>
              <a:t>Personalize Flight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Use flight duration and trip length insights to</a:t>
            </a:r>
            <a:br/>
            <a:r>
              <a:t>recommend relevant flight combinations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097280"/>
            <a:ext cx="365760" cy="365760"/>
          </a:xfrm>
          <a:prstGeom prst="rect">
            <a:avLst/>
          </a:prstGeom>
          <a:solidFill>
            <a:srgbClr val="C000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109728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4E79"/>
                </a:solidFill>
              </a:defRPr>
            </a:pPr>
            <a:r>
              <a:t>Optimize Add-on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55448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Promote premium seat selections and meals</a:t>
            </a:r>
            <a:br/>
            <a:r>
              <a:t>early in the booking funnel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114800"/>
            <a:ext cx="365760" cy="365760"/>
          </a:xfrm>
          <a:prstGeom prst="rect">
            <a:avLst/>
          </a:prstGeom>
          <a:solidFill>
            <a:srgbClr val="C000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1480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4E79"/>
                </a:solidFill>
              </a:defRPr>
            </a:pPr>
            <a:r>
              <a:t>Improve Purchase Timing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57200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Target customers based on purchase lead time</a:t>
            </a:r>
            <a:br/>
            <a:r>
              <a:t>with timely reminders and incentives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4114800"/>
            <a:ext cx="365760" cy="365760"/>
          </a:xfrm>
          <a:prstGeom prst="rect">
            <a:avLst/>
          </a:prstGeom>
          <a:solidFill>
            <a:srgbClr val="C000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411480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4E79"/>
                </a:solidFill>
              </a:defRPr>
            </a:pPr>
            <a:r>
              <a:t>Deploy Real-Time Predictions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457200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Integrate model into booking platform to identify</a:t>
            </a:r>
            <a:br/>
            <a:r>
              <a:t>at-risk sessions and trigger interventions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Random Forest model successfully identifies key factors driving booking completions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4F81BD"/>
                </a:solidFill>
              </a:defRPr>
            </a:pPr>
            <a:r>
              <a:t>Ready for deployment across sales and marketing channels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